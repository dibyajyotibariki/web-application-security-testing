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3490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99138" y="17145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1" y="30861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" y="4114800"/>
            <a:ext cx="9144000" cy="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0" y="274320"/>
            <a:ext cx="2926080" cy="292608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640080"/>
            <a:ext cx="2194560" cy="219456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051560"/>
            <a:ext cx="1188720" cy="11887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320040" y="365760"/>
            <a:ext cx="1645920" cy="347472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320040" y="365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FF"/>
                </a:solidFill>
              </a:rPr>
              <a:t>WEEK 5 &amp; 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20040" y="8686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Application</a:t>
            </a:r>
            <a:endParaRPr lang="en-US" sz="4400" dirty="0"/>
          </a:p>
        </p:txBody>
      </p:sp>
      <p:sp>
        <p:nvSpPr>
          <p:cNvPr id="25" name="Text 22"/>
          <p:cNvSpPr/>
          <p:nvPr/>
        </p:nvSpPr>
        <p:spPr>
          <a:xfrm>
            <a:off x="320040" y="1600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Testing</a:t>
            </a:r>
            <a:endParaRPr lang="en-US" sz="4400" dirty="0"/>
          </a:p>
        </p:txBody>
      </p:sp>
      <p:sp>
        <p:nvSpPr>
          <p:cNvPr id="26" name="Text 23"/>
          <p:cNvSpPr/>
          <p:nvPr/>
        </p:nvSpPr>
        <p:spPr>
          <a:xfrm>
            <a:off x="32004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8C5D6"/>
                </a:solidFill>
              </a:rPr>
              <a:t>Ethical Hacking • OWASP Top 10 • Vulnerability Assessment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201168" y="3566160"/>
            <a:ext cx="2743200" cy="822960"/>
          </a:xfrm>
          <a:prstGeom prst="rect">
            <a:avLst/>
          </a:prstGeom>
          <a:solidFill>
            <a:srgbClr val="151D35"/>
          </a:solidFill>
          <a:ln w="12700">
            <a:solidFill>
              <a:srgbClr val="4A556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274321" y="3593591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</a:rPr>
              <a:t>Objective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51334" y="373673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Identify &amp; Test Vulnerabilities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154680" y="3566160"/>
            <a:ext cx="2743200" cy="822960"/>
          </a:xfrm>
          <a:prstGeom prst="rect">
            <a:avLst/>
          </a:prstGeom>
          <a:solidFill>
            <a:srgbClr val="151D35"/>
          </a:solidFill>
          <a:ln w="12700">
            <a:solidFill>
              <a:srgbClr val="4A556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3236273" y="3559830"/>
            <a:ext cx="25856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</a:rPr>
              <a:t>Method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726180" y="3713871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Ethical Hacking Techniques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096236" y="3576710"/>
            <a:ext cx="2743200" cy="822960"/>
          </a:xfrm>
          <a:prstGeom prst="rect">
            <a:avLst/>
          </a:prstGeom>
          <a:solidFill>
            <a:srgbClr val="151D35"/>
          </a:solidFill>
          <a:ln w="12700">
            <a:solidFill>
              <a:srgbClr val="4A556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179234" y="355859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</a:rPr>
              <a:t>Tools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611815" y="3721607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Burp Suite, OWASP ZAP, Nikto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Prepared by: [Dibyajyoti Bariki]  |  Course: Ethical Hacking &amp; Cybersecurity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FF9D"/>
                </a:solidFill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We'll Cover Today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1325880"/>
          </a:xfrm>
          <a:prstGeom prst="rect">
            <a:avLst/>
          </a:prstGeom>
          <a:solidFill>
            <a:srgbClr val="151D35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4416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325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15819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Environment Setup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11480" y="19842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DVWA &amp; OWASP Juice Shop installation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234440"/>
            <a:ext cx="2743200" cy="1325880"/>
          </a:xfrm>
          <a:prstGeom prst="rect">
            <a:avLst/>
          </a:prstGeom>
          <a:solidFill>
            <a:srgbClr val="151D35"/>
          </a:solidFill>
          <a:ln w="12700">
            <a:solidFill>
              <a:srgbClr val="FF4757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34416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1325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757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886200" y="15819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OWASP Top 10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383280" y="19842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Key vulnerabilities every tester must know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17920" y="1234440"/>
            <a:ext cx="2743200" cy="1325880"/>
          </a:xfrm>
          <a:prstGeom prst="rect">
            <a:avLst/>
          </a:prstGeom>
          <a:solidFill>
            <a:srgbClr val="151D35"/>
          </a:solidFill>
          <a:ln w="12700">
            <a:solidFill>
              <a:srgbClr val="00FF9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344168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1325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9D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858000" y="15819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Manual Testing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55080" y="19842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Hands-on SQL Injection &amp; XSS testing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1691640" y="2788920"/>
            <a:ext cx="2743200" cy="1325880"/>
          </a:xfrm>
          <a:prstGeom prst="rect">
            <a:avLst/>
          </a:prstGeom>
          <a:solidFill>
            <a:srgbClr val="151D35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2898648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33172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2331720" y="3136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Security Tools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828800" y="35387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Burp Suite, OWASP ZAP &amp; Nikto usage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663440" y="2788920"/>
            <a:ext cx="2743200" cy="1325880"/>
          </a:xfrm>
          <a:prstGeom prst="rect">
            <a:avLst/>
          </a:prstGeom>
          <a:solidFill>
            <a:srgbClr val="151D35"/>
          </a:solidFill>
          <a:ln w="12700">
            <a:solidFill>
              <a:srgbClr val="FFA50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2898648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502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303520" y="3136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Findings Report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800600" y="35387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Documentation &amp; remediation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D4FF"/>
                </a:solidFill>
              </a:rPr>
              <a:t>STEP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Setting Up the Lab Environment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3566160"/>
          </a:xfrm>
          <a:prstGeom prst="rect">
            <a:avLst/>
          </a:prstGeom>
          <a:solidFill>
            <a:srgbClr val="151D35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4114800" cy="502920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E1A"/>
                </a:solidFill>
              </a:rPr>
              <a:t>DVWA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2110" y="1207008"/>
            <a:ext cx="30526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E1A"/>
                </a:solidFill>
              </a:rPr>
              <a:t>Damn Vulnerable Web Application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1819656"/>
            <a:ext cx="201168" cy="20116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819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3232" y="180136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Download from GitHub: github.com/digininja/DVWA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249424"/>
            <a:ext cx="201168" cy="20116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249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3232" y="223113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Install XAMPP (Apache + MySQL + PHP)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679192"/>
            <a:ext cx="201168" cy="20116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6791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3232" y="266090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Copy DVWA folder to htdocs directory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108960"/>
            <a:ext cx="201168" cy="20116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108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13232" y="30906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Configure config/config.inc.php with DB credentials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538728"/>
            <a:ext cx="201168" cy="20116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538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13232" y="35204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Visit http://localhost/dvwa to initialize database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968496"/>
            <a:ext cx="201168" cy="20116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968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3232" y="39502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Default login: admin / password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1188720"/>
            <a:ext cx="4206240" cy="3566160"/>
          </a:xfrm>
          <a:prstGeom prst="rect">
            <a:avLst/>
          </a:prstGeom>
          <a:solidFill>
            <a:srgbClr val="151D35"/>
          </a:solidFill>
          <a:ln w="19050">
            <a:solidFill>
              <a:srgbClr val="FFA50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207008"/>
            <a:ext cx="4206240" cy="502920"/>
          </a:xfrm>
          <a:prstGeom prst="rect">
            <a:avLst/>
          </a:prstGeom>
          <a:solidFill>
            <a:srgbClr val="FFA502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207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0E1A"/>
                </a:solidFill>
              </a:rPr>
              <a:t>OWASP Juice Shop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800600" y="1819656"/>
            <a:ext cx="201168" cy="201168"/>
          </a:xfrm>
          <a:prstGeom prst="ellipse">
            <a:avLst/>
          </a:prstGeom>
          <a:solidFill>
            <a:srgbClr val="FFA502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1819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02352" y="18013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Visit: owasp.org/www-project-juice-shop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2249424"/>
            <a:ext cx="201168" cy="201168"/>
          </a:xfrm>
          <a:prstGeom prst="ellipse">
            <a:avLst/>
          </a:prstGeom>
          <a:solidFill>
            <a:srgbClr val="FFA502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2249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02352" y="22311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Install Node.js (v18+) from nodejs.org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2679192"/>
            <a:ext cx="201168" cy="201168"/>
          </a:xfrm>
          <a:prstGeom prst="ellipse">
            <a:avLst/>
          </a:prstGeom>
          <a:solidFill>
            <a:srgbClr val="FFA502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26791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02352" y="266090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Run: npm install -g juice-shop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108960"/>
            <a:ext cx="201168" cy="201168"/>
          </a:xfrm>
          <a:prstGeom prst="ellipse">
            <a:avLst/>
          </a:prstGeom>
          <a:solidFill>
            <a:srgbClr val="FFA502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3108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102352" y="309067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Or use Docker: docker pull bkimminich/juice-shop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0600" y="3538728"/>
            <a:ext cx="201168" cy="201168"/>
          </a:xfrm>
          <a:prstGeom prst="ellipse">
            <a:avLst/>
          </a:prstGeom>
          <a:solidFill>
            <a:srgbClr val="FFA502"/>
          </a:solidFill>
          <a:ln/>
        </p:spPr>
      </p:sp>
      <p:sp>
        <p:nvSpPr>
          <p:cNvPr id="43" name="Text 41"/>
          <p:cNvSpPr/>
          <p:nvPr/>
        </p:nvSpPr>
        <p:spPr>
          <a:xfrm>
            <a:off x="4800600" y="3538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102352" y="3520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Start: node app.js (port 3000 by default)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00600" y="3968496"/>
            <a:ext cx="201168" cy="201168"/>
          </a:xfrm>
          <a:prstGeom prst="ellipse">
            <a:avLst/>
          </a:prstGeom>
          <a:solidFill>
            <a:srgbClr val="FFA502"/>
          </a:solidFill>
          <a:ln/>
        </p:spPr>
      </p:sp>
      <p:sp>
        <p:nvSpPr>
          <p:cNvPr id="46" name="Text 44"/>
          <p:cNvSpPr/>
          <p:nvPr/>
        </p:nvSpPr>
        <p:spPr>
          <a:xfrm>
            <a:off x="4800600" y="39684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0E1A"/>
                </a:solidFill>
              </a:rPr>
              <a:t>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02352" y="3950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Open browser: http://localhost:3000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solidFill>
            <a:srgbClr val="1A2540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8188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9D"/>
                </a:solidFill>
              </a:rPr>
              <a:t>💡  Pro Tip: Use Docker for faster, isolated setup — avoids configuration conflicts with your system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4757"/>
                </a:solidFill>
              </a:rPr>
              <a:t>STEP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OWASP Top 10 Vulnerabilities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06240" cy="658368"/>
          </a:xfrm>
          <a:prstGeom prst="rect">
            <a:avLst/>
          </a:prstGeom>
          <a:solidFill>
            <a:srgbClr val="151D35"/>
          </a:solidFill>
          <a:ln w="12700">
            <a:solidFill>
              <a:srgbClr val="FF4757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594360" cy="658368"/>
          </a:xfrm>
          <a:prstGeom prst="rect">
            <a:avLst/>
          </a:prstGeom>
          <a:solidFill>
            <a:srgbClr val="FF4757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1243584"/>
            <a:ext cx="576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78408" y="124358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Broken Access Control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67328" y="1371600"/>
            <a:ext cx="621792" cy="274320"/>
          </a:xfrm>
          <a:prstGeom prst="rect">
            <a:avLst/>
          </a:prstGeom>
          <a:solidFill>
            <a:srgbClr val="FF4757">
              <a:alpha val="6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67328" y="13716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CRITICAL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206240" cy="658368"/>
          </a:xfrm>
          <a:prstGeom prst="rect">
            <a:avLst/>
          </a:prstGeom>
          <a:solidFill>
            <a:srgbClr val="151D35"/>
          </a:solidFill>
          <a:ln w="12700">
            <a:solidFill>
              <a:srgbClr val="FFA50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88720"/>
            <a:ext cx="594360" cy="658368"/>
          </a:xfrm>
          <a:prstGeom prst="rect">
            <a:avLst/>
          </a:prstGeom>
          <a:solidFill>
            <a:srgbClr val="FFA502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1243584"/>
            <a:ext cx="576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13248" y="124358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Cryptographic Failures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02168" y="1371600"/>
            <a:ext cx="621792" cy="274320"/>
          </a:xfrm>
          <a:prstGeom prst="rect">
            <a:avLst/>
          </a:prstGeom>
          <a:solidFill>
            <a:srgbClr val="FFA502">
              <a:alpha val="60000"/>
            </a:srgbClr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02168" y="13716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74320" y="1956816"/>
            <a:ext cx="4206240" cy="658368"/>
          </a:xfrm>
          <a:prstGeom prst="rect">
            <a:avLst/>
          </a:prstGeom>
          <a:solidFill>
            <a:srgbClr val="151D35"/>
          </a:solidFill>
          <a:ln w="12700">
            <a:solidFill>
              <a:srgbClr val="FF4757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1956816"/>
            <a:ext cx="594360" cy="658368"/>
          </a:xfrm>
          <a:prstGeom prst="rect">
            <a:avLst/>
          </a:prstGeom>
          <a:solidFill>
            <a:srgbClr val="FF4757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" y="2011680"/>
            <a:ext cx="576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78408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Injection (SQL, XSS)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67328" y="2139696"/>
            <a:ext cx="621792" cy="274320"/>
          </a:xfrm>
          <a:prstGeom prst="rect">
            <a:avLst/>
          </a:prstGeom>
          <a:solidFill>
            <a:srgbClr val="FF4757">
              <a:alpha val="6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67328" y="2139696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CRITICAL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709160" y="1956816"/>
            <a:ext cx="4206240" cy="658368"/>
          </a:xfrm>
          <a:prstGeom prst="rect">
            <a:avLst/>
          </a:prstGeom>
          <a:solidFill>
            <a:srgbClr val="151D35"/>
          </a:solidFill>
          <a:ln w="12700">
            <a:solidFill>
              <a:srgbClr val="FFA50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956816"/>
            <a:ext cx="594360" cy="658368"/>
          </a:xfrm>
          <a:prstGeom prst="rect">
            <a:avLst/>
          </a:prstGeom>
          <a:solidFill>
            <a:srgbClr val="FFA502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2011680"/>
            <a:ext cx="576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13248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Insecure Design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02168" y="2139696"/>
            <a:ext cx="621792" cy="274320"/>
          </a:xfrm>
          <a:prstGeom prst="rect">
            <a:avLst/>
          </a:prstGeom>
          <a:solidFill>
            <a:srgbClr val="FFA502">
              <a:alpha val="60000"/>
            </a:srgbClr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02168" y="2139696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74320" y="2724912"/>
            <a:ext cx="4206240" cy="658368"/>
          </a:xfrm>
          <a:prstGeom prst="rect">
            <a:avLst/>
          </a:prstGeom>
          <a:solidFill>
            <a:srgbClr val="151D35"/>
          </a:solidFill>
          <a:ln w="12700">
            <a:solidFill>
              <a:srgbClr val="FFA50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724912"/>
            <a:ext cx="594360" cy="658368"/>
          </a:xfrm>
          <a:prstGeom prst="rect">
            <a:avLst/>
          </a:prstGeom>
          <a:solidFill>
            <a:srgbClr val="FFA502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" y="2779776"/>
            <a:ext cx="576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78408" y="27797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Security Misconfiguration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767328" y="2907792"/>
            <a:ext cx="621792" cy="274320"/>
          </a:xfrm>
          <a:prstGeom prst="rect">
            <a:avLst/>
          </a:prstGeom>
          <a:solidFill>
            <a:srgbClr val="FFA502">
              <a:alpha val="60000"/>
            </a:srgbClr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67328" y="290779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709160" y="2724912"/>
            <a:ext cx="4206240" cy="658368"/>
          </a:xfrm>
          <a:prstGeom prst="rect">
            <a:avLst/>
          </a:prstGeom>
          <a:solidFill>
            <a:srgbClr val="151D35"/>
          </a:solidFill>
          <a:ln w="12700">
            <a:solidFill>
              <a:srgbClr val="FFC107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724912"/>
            <a:ext cx="594360" cy="658368"/>
          </a:xfrm>
          <a:prstGeom prst="rect">
            <a:avLst/>
          </a:prstGeom>
          <a:solidFill>
            <a:srgbClr val="FFC107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2779776"/>
            <a:ext cx="576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A06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13248" y="27797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Vulnerable Components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202168" y="2907792"/>
            <a:ext cx="621792" cy="274320"/>
          </a:xfrm>
          <a:prstGeom prst="rect">
            <a:avLst/>
          </a:prstGeom>
          <a:solidFill>
            <a:srgbClr val="FFC107">
              <a:alpha val="6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02168" y="290779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74320" y="3493008"/>
            <a:ext cx="4206240" cy="658368"/>
          </a:xfrm>
          <a:prstGeom prst="rect">
            <a:avLst/>
          </a:prstGeom>
          <a:solidFill>
            <a:srgbClr val="151D35"/>
          </a:solidFill>
          <a:ln w="12700">
            <a:solidFill>
              <a:srgbClr val="FF4757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3493008"/>
            <a:ext cx="594360" cy="658368"/>
          </a:xfrm>
          <a:prstGeom prst="rect">
            <a:avLst/>
          </a:prstGeom>
          <a:solidFill>
            <a:srgbClr val="FF4757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3464" y="3547872"/>
            <a:ext cx="576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A07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78408" y="35478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Auth &amp; Identity Failures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767328" y="3675888"/>
            <a:ext cx="621792" cy="274320"/>
          </a:xfrm>
          <a:prstGeom prst="rect">
            <a:avLst/>
          </a:prstGeom>
          <a:solidFill>
            <a:srgbClr val="FF4757">
              <a:alpha val="60000"/>
            </a:srgbClr>
          </a:solidFill>
          <a:ln w="12700">
            <a:solidFill>
              <a:srgbClr val="FF47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67328" y="36758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CRITICAL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709160" y="3493008"/>
            <a:ext cx="4206240" cy="658368"/>
          </a:xfrm>
          <a:prstGeom prst="rect">
            <a:avLst/>
          </a:prstGeom>
          <a:solidFill>
            <a:srgbClr val="151D35"/>
          </a:solidFill>
          <a:ln w="12700">
            <a:solidFill>
              <a:srgbClr val="FFA50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9160" y="3493008"/>
            <a:ext cx="594360" cy="658368"/>
          </a:xfrm>
          <a:prstGeom prst="rect">
            <a:avLst/>
          </a:prstGeom>
          <a:solidFill>
            <a:srgbClr val="FFA502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3547872"/>
            <a:ext cx="576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A08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13248" y="35478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Insecure Deserialization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202168" y="3675888"/>
            <a:ext cx="621792" cy="274320"/>
          </a:xfrm>
          <a:prstGeom prst="rect">
            <a:avLst/>
          </a:prstGeom>
          <a:solidFill>
            <a:srgbClr val="FFA502">
              <a:alpha val="60000"/>
            </a:srgbClr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02168" y="36758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74320" y="4261104"/>
            <a:ext cx="4206240" cy="658368"/>
          </a:xfrm>
          <a:prstGeom prst="rect">
            <a:avLst/>
          </a:prstGeom>
          <a:solidFill>
            <a:srgbClr val="151D35"/>
          </a:solidFill>
          <a:ln w="12700">
            <a:solidFill>
              <a:srgbClr val="FFC107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74320" y="4261104"/>
            <a:ext cx="594360" cy="658368"/>
          </a:xfrm>
          <a:prstGeom prst="rect">
            <a:avLst/>
          </a:prstGeom>
          <a:solidFill>
            <a:srgbClr val="FFC107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3464" y="4315968"/>
            <a:ext cx="576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A09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78408" y="43159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Security Logging Failures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767328" y="4443984"/>
            <a:ext cx="621792" cy="274320"/>
          </a:xfrm>
          <a:prstGeom prst="rect">
            <a:avLst/>
          </a:prstGeom>
          <a:solidFill>
            <a:srgbClr val="FFC107">
              <a:alpha val="6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67328" y="4443984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709160" y="4261104"/>
            <a:ext cx="4206240" cy="658368"/>
          </a:xfrm>
          <a:prstGeom prst="rect">
            <a:avLst/>
          </a:prstGeom>
          <a:solidFill>
            <a:srgbClr val="151D35"/>
          </a:solidFill>
          <a:ln w="12700">
            <a:solidFill>
              <a:srgbClr val="FFA50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709160" y="4261104"/>
            <a:ext cx="594360" cy="658368"/>
          </a:xfrm>
          <a:prstGeom prst="rect">
            <a:avLst/>
          </a:prstGeom>
          <a:solidFill>
            <a:srgbClr val="FFA502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18304" y="4315968"/>
            <a:ext cx="576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A10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413248" y="43159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Server-Side Request Forgery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202168" y="4443984"/>
            <a:ext cx="621792" cy="274320"/>
          </a:xfrm>
          <a:prstGeom prst="rect">
            <a:avLst/>
          </a:prstGeom>
          <a:solidFill>
            <a:srgbClr val="FFA502">
              <a:alpha val="60000"/>
            </a:srgbClr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02168" y="4443984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4757"/>
                </a:solidFill>
              </a:rPr>
              <a:t>VULNERABILITY DEEP DIVE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389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 Injection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274320" y="1024128"/>
            <a:ext cx="8595360" cy="594360"/>
          </a:xfrm>
          <a:prstGeom prst="rect">
            <a:avLst/>
          </a:prstGeom>
          <a:solidFill>
            <a:srgbClr val="151D35"/>
          </a:solidFill>
          <a:ln w="12700">
            <a:solidFill>
              <a:srgbClr val="4A556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05156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757"/>
                </a:solidFill>
              </a:rPr>
              <a:t>What it is: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737360" y="1051560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</a:rPr>
              <a:t>An attacker injects malicious SQL code into input fields to manipulate the database — stealing, modifying, or deleting data without authorization.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1737360"/>
            <a:ext cx="5029200" cy="1463040"/>
          </a:xfrm>
          <a:prstGeom prst="rect">
            <a:avLst/>
          </a:prstGeom>
          <a:solidFill>
            <a:srgbClr val="0A0E1A"/>
          </a:solidFill>
          <a:ln w="12700">
            <a:solidFill>
              <a:srgbClr val="00FF9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1764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9D"/>
                </a:solidFill>
              </a:rPr>
              <a:t>⚡ Test Payloads I Used: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20848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OR '1'='1  (always true — bypasses login)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235915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OR 1=1--   (comment out rest of query)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26334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admin'--     (login as admin, no password)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29077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UNION SELECT username,password FROM users--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86400" y="1737360"/>
            <a:ext cx="3383280" cy="1463040"/>
          </a:xfrm>
          <a:prstGeom prst="rect">
            <a:avLst/>
          </a:prstGeom>
          <a:solidFill>
            <a:srgbClr val="151D35"/>
          </a:solidFill>
          <a:ln w="12700">
            <a:solidFill>
              <a:srgbClr val="FF4757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669280" y="17647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</a:rPr>
              <a:t>⚠ Impact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69280" y="2084832"/>
            <a:ext cx="73152" cy="201168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18" name="Text 15"/>
          <p:cNvSpPr/>
          <p:nvPr/>
        </p:nvSpPr>
        <p:spPr>
          <a:xfrm>
            <a:off x="5833872" y="208483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Full database dump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669280" y="2331720"/>
            <a:ext cx="73152" cy="201168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20" name="Text 17"/>
          <p:cNvSpPr/>
          <p:nvPr/>
        </p:nvSpPr>
        <p:spPr>
          <a:xfrm>
            <a:off x="5833872" y="233172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Bypass authentication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669280" y="2578608"/>
            <a:ext cx="73152" cy="201168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22" name="Text 19"/>
          <p:cNvSpPr/>
          <p:nvPr/>
        </p:nvSpPr>
        <p:spPr>
          <a:xfrm>
            <a:off x="5833872" y="2578608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Delete/modify data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669280" y="2825496"/>
            <a:ext cx="73152" cy="201168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24" name="Text 21"/>
          <p:cNvSpPr/>
          <p:nvPr/>
        </p:nvSpPr>
        <p:spPr>
          <a:xfrm>
            <a:off x="5833872" y="2825496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Remote code execution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74320" y="3310128"/>
            <a:ext cx="8595360" cy="1554480"/>
          </a:xfrm>
          <a:prstGeom prst="rect">
            <a:avLst/>
          </a:prstGeom>
          <a:solidFill>
            <a:srgbClr val="0D1825"/>
          </a:solidFill>
          <a:ln w="12700">
            <a:solidFill>
              <a:srgbClr val="00FF9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9D"/>
                </a:solidFill>
              </a:rPr>
              <a:t>✅  How I Fixed It / Recommended Remediation: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57200" y="3675888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Use Prepared Statements / Parameterized Queries:   $stmt = $pdo-&gt;prepare('SELECT * FROM users WHERE id = ?');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57200" y="3950208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Input Validation — whitelist allowed characters, reject special SQL chars (', --, ;)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57200" y="4224528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Principle of Least Privilege — DB user should only have required permissions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57200" y="4498848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Use an ORM (Object Relational Mapper) that handles escaping automatically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A50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A502"/>
                </a:solidFill>
              </a:rPr>
              <a:t>VULNERABILITY DEEP DIVE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Cross-Site Scripting (XSS)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274320" y="1024128"/>
            <a:ext cx="8595360" cy="594360"/>
          </a:xfrm>
          <a:prstGeom prst="rect">
            <a:avLst/>
          </a:prstGeom>
          <a:solidFill>
            <a:srgbClr val="151D35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5156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502"/>
                </a:solidFill>
              </a:rPr>
              <a:t>What it is: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737360" y="1051560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</a:rPr>
              <a:t>An attacker injects malicious JavaScript into web pages. When victims visit the page, the script runs in their browser — stealing cookies, session tokens, or redirecting users.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1737360"/>
            <a:ext cx="2743200" cy="1005840"/>
          </a:xfrm>
          <a:prstGeom prst="rect">
            <a:avLst/>
          </a:prstGeom>
          <a:solidFill>
            <a:srgbClr val="151D35"/>
          </a:solidFill>
          <a:ln w="19050">
            <a:solidFill>
              <a:srgbClr val="FF4757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11480" y="17647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757"/>
                </a:solidFill>
              </a:rPr>
              <a:t>Reflected XSS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20848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Malicious script is in the URL. Server reflects it back in response. User clicks a crafted link.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1737360"/>
            <a:ext cx="2743200" cy="1005840"/>
          </a:xfrm>
          <a:prstGeom prst="rect">
            <a:avLst/>
          </a:prstGeom>
          <a:solidFill>
            <a:srgbClr val="151D35"/>
          </a:solidFill>
          <a:ln w="19050">
            <a:solidFill>
              <a:srgbClr val="FFA50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383280" y="17647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A502"/>
                </a:solidFill>
              </a:rPr>
              <a:t>Stored XSS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83280" y="20848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Script is saved in database (e.g. blog comments). Executes every time page is loaded.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1737360"/>
            <a:ext cx="2743200" cy="1005840"/>
          </a:xfrm>
          <a:prstGeom prst="rect">
            <a:avLst/>
          </a:prstGeom>
          <a:solidFill>
            <a:srgbClr val="151D35"/>
          </a:solidFill>
          <a:ln w="19050">
            <a:solidFill>
              <a:srgbClr val="FFC107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55080" y="17647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107"/>
                </a:solidFill>
              </a:rPr>
              <a:t>DOM-Based XSS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55080" y="20848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Vulnerability in client-side JavaScript. No server interaction — all in the browser DOM.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4320" y="2834640"/>
            <a:ext cx="5120640" cy="1371600"/>
          </a:xfrm>
          <a:prstGeom prst="rect">
            <a:avLst/>
          </a:prstGeom>
          <a:solidFill>
            <a:srgbClr val="0A0E1A"/>
          </a:solidFill>
          <a:ln w="12700">
            <a:solidFill>
              <a:srgbClr val="FFA50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57200" y="2862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502"/>
                </a:solidFill>
              </a:rPr>
              <a:t>⚡ Test Payloads I Used: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02920" y="315468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A5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&lt;script&gt;alert('XSS')&lt;/script&gt;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2920" y="341071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A5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src=x onerror=alert('XSS')&gt;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02920" y="3666744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A5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';alert('XSS')//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02920" y="3922776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A50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&lt;svg onload=alert(document.cookie)&gt;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577840" y="2834640"/>
            <a:ext cx="3291840" cy="1371600"/>
          </a:xfrm>
          <a:prstGeom prst="rect">
            <a:avLst/>
          </a:prstGeom>
          <a:solidFill>
            <a:srgbClr val="151D35"/>
          </a:solidFill>
          <a:ln w="12700">
            <a:solidFill>
              <a:srgbClr val="00FF9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760720" y="2862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9D"/>
                </a:solidFill>
              </a:rPr>
              <a:t>✅ Remediation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742432" y="3191256"/>
            <a:ext cx="128016" cy="128016"/>
          </a:xfrm>
          <a:prstGeom prst="ellipse">
            <a:avLst/>
          </a:prstGeom>
          <a:solidFill>
            <a:srgbClr val="00FF9D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0" y="31638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Output encoding (htmlspecialchars)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742432" y="3429000"/>
            <a:ext cx="128016" cy="128016"/>
          </a:xfrm>
          <a:prstGeom prst="ellipse">
            <a:avLst/>
          </a:prstGeom>
          <a:solidFill>
            <a:srgbClr val="00FF9D"/>
          </a:solidFill>
          <a:ln/>
        </p:spPr>
      </p:sp>
      <p:sp>
        <p:nvSpPr>
          <p:cNvPr id="29" name="Text 26"/>
          <p:cNvSpPr/>
          <p:nvPr/>
        </p:nvSpPr>
        <p:spPr>
          <a:xfrm>
            <a:off x="5943600" y="34015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Content Security Policy (CSP) header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742432" y="3666744"/>
            <a:ext cx="128016" cy="128016"/>
          </a:xfrm>
          <a:prstGeom prst="ellipse">
            <a:avLst/>
          </a:prstGeom>
          <a:solidFill>
            <a:srgbClr val="00FF9D"/>
          </a:solidFill>
          <a:ln/>
        </p:spPr>
      </p:sp>
      <p:sp>
        <p:nvSpPr>
          <p:cNvPr id="31" name="Text 28"/>
          <p:cNvSpPr/>
          <p:nvPr/>
        </p:nvSpPr>
        <p:spPr>
          <a:xfrm>
            <a:off x="5943600" y="3639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Input validation &amp; sanitization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742432" y="3904488"/>
            <a:ext cx="128016" cy="128016"/>
          </a:xfrm>
          <a:prstGeom prst="ellipse">
            <a:avLst/>
          </a:prstGeom>
          <a:solidFill>
            <a:srgbClr val="00FF9D"/>
          </a:solidFill>
          <a:ln/>
        </p:spPr>
      </p:sp>
      <p:sp>
        <p:nvSpPr>
          <p:cNvPr id="33" name="Text 30"/>
          <p:cNvSpPr/>
          <p:nvPr/>
        </p:nvSpPr>
        <p:spPr>
          <a:xfrm>
            <a:off x="5943600" y="38770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HttpOnly cookie flag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742432" y="4142232"/>
            <a:ext cx="128016" cy="128016"/>
          </a:xfrm>
          <a:prstGeom prst="ellipse">
            <a:avLst/>
          </a:prstGeom>
          <a:solidFill>
            <a:srgbClr val="00FF9D"/>
          </a:solidFill>
          <a:ln/>
        </p:spPr>
      </p:sp>
      <p:sp>
        <p:nvSpPr>
          <p:cNvPr id="35" name="Text 32"/>
          <p:cNvSpPr/>
          <p:nvPr/>
        </p:nvSpPr>
        <p:spPr>
          <a:xfrm>
            <a:off x="5943600" y="41148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Use DOMPurify library for HTML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74320" y="4297680"/>
            <a:ext cx="8595360" cy="685800"/>
          </a:xfrm>
          <a:prstGeom prst="rect">
            <a:avLst/>
          </a:prstGeom>
          <a:solidFill>
            <a:srgbClr val="1A0A05"/>
          </a:solidFill>
          <a:ln w="12700">
            <a:solidFill>
              <a:srgbClr val="FFA50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7200" y="43251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</a:rPr>
              <a:t>📍 Finding: In DVWA (Low Security), the 'Name' field on the XSS Reflected page reflected my input unsanitized. Entering 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57200" y="45902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A502"/>
                </a:solidFill>
              </a:rPr>
              <a:t>&lt;script&gt;alert("XSS Test")&lt;/script&gt;  triggered a popup — confirming the vulnerability.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78BFA"/>
                </a:solidFill>
              </a:rPr>
              <a:t>VULNERABILITY DEEP 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43891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Broken Auth &amp; Insecure Deserialization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3566160"/>
          </a:xfrm>
          <a:prstGeom prst="rect">
            <a:avLst/>
          </a:prstGeom>
          <a:solidFill>
            <a:srgbClr val="151D35"/>
          </a:solidFill>
          <a:ln w="1905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60520" cy="41148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6984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078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Broken Authentication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536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</a:rPr>
              <a:t>What it is: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17830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Weak or improperly implemented authentication allows attackers to steal credentials, bypass login, or hijack sessions.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2423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</a:rPr>
              <a:t>How I Tested: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715768"/>
            <a:ext cx="73152" cy="25603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7157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Tried default credentials: admin/admin, root/root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3054096"/>
            <a:ext cx="73152" cy="25603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05409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Brute-forced login with Burp Suite Intruder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" y="3392424"/>
            <a:ext cx="73152" cy="25603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39242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Checked if session token changes after login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7200" y="3730752"/>
            <a:ext cx="73152" cy="25603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37307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Tested for account lockout policy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4069080"/>
            <a:ext cx="73152" cy="25603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0690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Looked for password in URL or page source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709160" y="1051560"/>
            <a:ext cx="4160520" cy="3566160"/>
          </a:xfrm>
          <a:prstGeom prst="rect">
            <a:avLst/>
          </a:prstGeom>
          <a:solidFill>
            <a:srgbClr val="151D35"/>
          </a:solidFill>
          <a:ln w="19050">
            <a:solidFill>
              <a:srgbClr val="FF4757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09160" y="1051560"/>
            <a:ext cx="4160520" cy="411480"/>
          </a:xfrm>
          <a:prstGeom prst="rect">
            <a:avLst/>
          </a:prstGeom>
          <a:solidFill>
            <a:srgbClr val="FF4757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069848"/>
            <a:ext cx="347472" cy="34747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212080" y="1078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Insecure Deserialization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4892040" y="1536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</a:rPr>
              <a:t>What it is: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892040" y="1783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When apps deserialize data from untrusted sources without validation, attackers can manipulate serialized objects to execute code, escalate privileges, or inject malicious data.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892040" y="2514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</a:rPr>
              <a:t>How I Tested: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892040" y="2816352"/>
            <a:ext cx="73152" cy="256032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30" name="Text 26"/>
          <p:cNvSpPr/>
          <p:nvPr/>
        </p:nvSpPr>
        <p:spPr>
          <a:xfrm>
            <a:off x="5074920" y="28163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Intercepted cookies with Burp Suite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4892040" y="3154680"/>
            <a:ext cx="73152" cy="256032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32" name="Text 28"/>
          <p:cNvSpPr/>
          <p:nvPr/>
        </p:nvSpPr>
        <p:spPr>
          <a:xfrm>
            <a:off x="5074920" y="31546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Decoded base64 session tokens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4892040" y="3493008"/>
            <a:ext cx="73152" cy="256032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34" name="Text 30"/>
          <p:cNvSpPr/>
          <p:nvPr/>
        </p:nvSpPr>
        <p:spPr>
          <a:xfrm>
            <a:off x="5074920" y="34930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Checked for PHP serialize() / unserialize()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4892040" y="3831336"/>
            <a:ext cx="73152" cy="256032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36" name="Text 32"/>
          <p:cNvSpPr/>
          <p:nvPr/>
        </p:nvSpPr>
        <p:spPr>
          <a:xfrm>
            <a:off x="5074920" y="383133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Used ysoserial tool to generate payloads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4892040" y="4169664"/>
            <a:ext cx="73152" cy="256032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38" name="Text 34"/>
          <p:cNvSpPr/>
          <p:nvPr/>
        </p:nvSpPr>
        <p:spPr>
          <a:xfrm>
            <a:off x="5074920" y="416966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Tested Java/PHP deserialization endpoints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solidFill>
            <a:srgbClr val="101A0A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57200" y="472744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9D"/>
                </a:solidFill>
              </a:rPr>
              <a:t>✅  Fixes: Use MFA • Strong password policy • Secure session tokens • Never deserialize untrusted input • Use JSON over binary serialization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A50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A502"/>
                </a:solidFill>
              </a:rPr>
              <a:t>VULNERABILITY DEEP DIVE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Misconfiguration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274320" y="1024128"/>
            <a:ext cx="8595360" cy="502920"/>
          </a:xfrm>
          <a:prstGeom prst="rect">
            <a:avLst/>
          </a:prstGeom>
          <a:solidFill>
            <a:srgbClr val="151D35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424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6"/>
                </a:solidFill>
              </a:rPr>
              <a:t>The most commonly found vulnerability — default settings, open cloud storage, verbose error messages, and unnecessary features left enabled.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664208"/>
            <a:ext cx="2743200" cy="1280160"/>
          </a:xfrm>
          <a:prstGeom prst="rect">
            <a:avLst/>
          </a:prstGeom>
          <a:solidFill>
            <a:srgbClr val="151D35"/>
          </a:solidFill>
          <a:ln w="12700">
            <a:solidFill>
              <a:srgbClr val="FF4757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755648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17739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757"/>
                </a:solidFill>
              </a:rPr>
              <a:t>Default Credentials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11480" y="223113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Admin panels with admin/admin or root/root still enabled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46120" y="1664208"/>
            <a:ext cx="2743200" cy="1280160"/>
          </a:xfrm>
          <a:prstGeom prst="rect">
            <a:avLst/>
          </a:prstGeom>
          <a:solidFill>
            <a:srgbClr val="151D35"/>
          </a:solidFill>
          <a:ln w="12700">
            <a:solidFill>
              <a:srgbClr val="FFA50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1755648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86200" y="17739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A502"/>
                </a:solidFill>
              </a:rPr>
              <a:t>Directory Listing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383280" y="223113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Web server exposes file structure — /backup, /uploads visible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217920" y="1664208"/>
            <a:ext cx="2743200" cy="1280160"/>
          </a:xfrm>
          <a:prstGeom prst="rect">
            <a:avLst/>
          </a:prstGeom>
          <a:solidFill>
            <a:srgbClr val="151D35"/>
          </a:solidFill>
          <a:ln w="12700">
            <a:solidFill>
              <a:srgbClr val="FFC107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1755648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0" y="17739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107"/>
                </a:solidFill>
              </a:rPr>
              <a:t>Error Messages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355080" y="223113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Stack traces reveal DB structure, file paths, code logic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274320" y="3127248"/>
            <a:ext cx="2743200" cy="1280160"/>
          </a:xfrm>
          <a:prstGeom prst="rect">
            <a:avLst/>
          </a:prstGeom>
          <a:solidFill>
            <a:srgbClr val="151D35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18688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14400" y="323697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Unnecessary Services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11480" y="369417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FTP, Telnet, old PHP/Apache versions running unnecessarily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3246120" y="3127248"/>
            <a:ext cx="2743200" cy="1280160"/>
          </a:xfrm>
          <a:prstGeom prst="rect">
            <a:avLst/>
          </a:prstGeom>
          <a:solidFill>
            <a:srgbClr val="151D35"/>
          </a:solidFill>
          <a:ln w="12700">
            <a:solidFill>
              <a:srgbClr val="FFA50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218688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886200" y="323697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A502"/>
                </a:solidFill>
              </a:rPr>
              <a:t>Missing Security Headers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3383280" y="369417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No X-Frame-Options, CSP, HSTS, X-Content-Type headers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6217920" y="3127248"/>
            <a:ext cx="2743200" cy="1280160"/>
          </a:xfrm>
          <a:prstGeom prst="rect">
            <a:avLst/>
          </a:prstGeom>
          <a:solidFill>
            <a:srgbClr val="151D35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218688"/>
            <a:ext cx="411480" cy="41148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858000" y="323697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Cloud Misconfiguration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6355080" y="369417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5D6"/>
                </a:solidFill>
              </a:rPr>
              <a:t>S3 buckets publicly readable, open security group rules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solidFill>
            <a:srgbClr val="1A1200"/>
          </a:solidFill>
          <a:ln w="12700">
            <a:solidFill>
              <a:srgbClr val="00FF9D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9D"/>
                </a:solidFill>
              </a:rPr>
              <a:t>✅  Fix: Harden configurations, disable unused features, change default creds, enable security headers, use Nikto to scan for misconfigurations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FF9D"/>
                </a:solidFill>
              </a:rPr>
              <a:t>STEP 03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371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Manual Testing Methodology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31520" y="1655064"/>
            <a:ext cx="0" cy="13716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92608" y="1133856"/>
            <a:ext cx="530352" cy="530352"/>
          </a:xfrm>
          <a:prstGeom prst="ellipse">
            <a:avLst/>
          </a:prstGeom>
          <a:solidFill>
            <a:srgbClr val="00D4FF">
              <a:alpha val="80000"/>
            </a:srgbClr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11338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05840" y="1115568"/>
            <a:ext cx="7863840" cy="548640"/>
          </a:xfrm>
          <a:prstGeom prst="rect">
            <a:avLst/>
          </a:prstGeom>
          <a:solidFill>
            <a:srgbClr val="151D35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05840" y="1115568"/>
            <a:ext cx="1371600" cy="548640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117957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Reconnaissance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487168" y="1179576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</a:rPr>
              <a:t>Map the app — identify all input fields, forms, URLs, cookies, headers. Note tech stack.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1520" y="2295144"/>
            <a:ext cx="0" cy="137160"/>
          </a:xfrm>
          <a:prstGeom prst="line">
            <a:avLst/>
          </a:prstGeom>
          <a:noFill/>
          <a:ln w="19050">
            <a:solidFill>
              <a:srgbClr val="00FF9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2608" y="1773936"/>
            <a:ext cx="530352" cy="530352"/>
          </a:xfrm>
          <a:prstGeom prst="ellipse">
            <a:avLst/>
          </a:prstGeom>
          <a:solidFill>
            <a:srgbClr val="00FF9D">
              <a:alpha val="80000"/>
            </a:srgbClr>
          </a:solidFill>
          <a:ln w="25400">
            <a:solidFill>
              <a:srgbClr val="00FF9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2608" y="17739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05840" y="1755648"/>
            <a:ext cx="7863840" cy="548640"/>
          </a:xfrm>
          <a:prstGeom prst="rect">
            <a:avLst/>
          </a:prstGeom>
          <a:solidFill>
            <a:srgbClr val="151D35"/>
          </a:solidFill>
          <a:ln w="12700">
            <a:solidFill>
              <a:srgbClr val="00FF9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005840" y="1755648"/>
            <a:ext cx="1371600" cy="548640"/>
          </a:xfrm>
          <a:prstGeom prst="rect">
            <a:avLst/>
          </a:prstGeom>
          <a:solidFill>
            <a:srgbClr val="00FF9D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51560" y="181965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 Mapping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487168" y="1819656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</a:rPr>
              <a:t>List every user-controllable input: search bars, login forms, URL params, hidden fields.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31520" y="2935224"/>
            <a:ext cx="0" cy="137160"/>
          </a:xfrm>
          <a:prstGeom prst="line">
            <a:avLst/>
          </a:prstGeom>
          <a:noFill/>
          <a:ln w="19050">
            <a:solidFill>
              <a:srgbClr val="FFA50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92608" y="2414016"/>
            <a:ext cx="530352" cy="530352"/>
          </a:xfrm>
          <a:prstGeom prst="ellipse">
            <a:avLst/>
          </a:prstGeom>
          <a:solidFill>
            <a:srgbClr val="FFA502">
              <a:alpha val="80000"/>
            </a:srgbClr>
          </a:solidFill>
          <a:ln w="25400">
            <a:solidFill>
              <a:srgbClr val="FFA50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92608" y="24140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05840" y="2395728"/>
            <a:ext cx="7863840" cy="548640"/>
          </a:xfrm>
          <a:prstGeom prst="rect">
            <a:avLst/>
          </a:prstGeom>
          <a:solidFill>
            <a:srgbClr val="151D35"/>
          </a:solidFill>
          <a:ln w="12700">
            <a:solidFill>
              <a:srgbClr val="FFA50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005840" y="2395728"/>
            <a:ext cx="1371600" cy="548640"/>
          </a:xfrm>
          <a:prstGeom prst="rect">
            <a:avLst/>
          </a:prstGeom>
          <a:solidFill>
            <a:srgbClr val="FFA502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51560" y="245973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Inject Test Payloads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487168" y="2459736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</a:rPr>
              <a:t>Try SQL, XSS, command injection payloads in each field. Observe responses carefully.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31520" y="3575304"/>
            <a:ext cx="0" cy="137160"/>
          </a:xfrm>
          <a:prstGeom prst="line">
            <a:avLst/>
          </a:prstGeom>
          <a:noFill/>
          <a:ln w="19050">
            <a:solidFill>
              <a:srgbClr val="FF47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92608" y="3054096"/>
            <a:ext cx="530352" cy="530352"/>
          </a:xfrm>
          <a:prstGeom prst="ellipse">
            <a:avLst/>
          </a:prstGeom>
          <a:solidFill>
            <a:srgbClr val="FF4757">
              <a:alpha val="80000"/>
            </a:srgbClr>
          </a:solidFill>
          <a:ln w="25400">
            <a:solidFill>
              <a:srgbClr val="FF475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92608" y="30540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005840" y="3035808"/>
            <a:ext cx="7863840" cy="548640"/>
          </a:xfrm>
          <a:prstGeom prst="rect">
            <a:avLst/>
          </a:prstGeom>
          <a:solidFill>
            <a:srgbClr val="151D35"/>
          </a:solidFill>
          <a:ln w="12700">
            <a:solidFill>
              <a:srgbClr val="FF4757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005840" y="3035808"/>
            <a:ext cx="1371600" cy="548640"/>
          </a:xfrm>
          <a:prstGeom prst="rect">
            <a:avLst/>
          </a:prstGeom>
          <a:solidFill>
            <a:srgbClr val="FF4757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51560" y="309981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Analyze Response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2487168" y="3099816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</a:rPr>
              <a:t>Look for error messages, changes in output, JS popups, redirects — signs of success.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731520" y="4215384"/>
            <a:ext cx="0" cy="13716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92608" y="3694176"/>
            <a:ext cx="530352" cy="530352"/>
          </a:xfrm>
          <a:prstGeom prst="ellipse">
            <a:avLst/>
          </a:prstGeom>
          <a:solidFill>
            <a:srgbClr val="7C3AED">
              <a:alpha val="80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92608" y="36941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005840" y="3675888"/>
            <a:ext cx="7863840" cy="548640"/>
          </a:xfrm>
          <a:prstGeom prst="rect">
            <a:avLst/>
          </a:prstGeom>
          <a:solidFill>
            <a:srgbClr val="151D35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1005840" y="3675888"/>
            <a:ext cx="1371600" cy="548640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51560" y="373989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Escalate &amp; Verify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2487168" y="3739896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</a:rPr>
              <a:t>Confirm the vulnerability is real and not a false positive. Measure actual impact.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292608" y="4334256"/>
            <a:ext cx="530352" cy="530352"/>
          </a:xfrm>
          <a:prstGeom prst="ellipse">
            <a:avLst/>
          </a:prstGeom>
          <a:solidFill>
            <a:srgbClr val="FFC107">
              <a:alpha val="80000"/>
            </a:srgbClr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92608" y="43342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1005840" y="4315968"/>
            <a:ext cx="7863840" cy="548640"/>
          </a:xfrm>
          <a:prstGeom prst="rect">
            <a:avLst/>
          </a:prstGeom>
          <a:solidFill>
            <a:srgbClr val="151D35"/>
          </a:solidFill>
          <a:ln w="12700">
            <a:solidFill>
              <a:srgbClr val="FFC107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1005840" y="4315968"/>
            <a:ext cx="1371600" cy="548640"/>
          </a:xfrm>
          <a:prstGeom prst="rect">
            <a:avLst/>
          </a:prstGeom>
          <a:solidFill>
            <a:srgbClr val="FFC107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51560" y="437997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Document Evidence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2487168" y="4379976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</a:rPr>
              <a:t>Screenshot everything — URL, payload, response. Note severity and remediation.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78BFA"/>
                </a:solidFill>
              </a:rPr>
              <a:t>STEP 04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371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Testing Tools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28600" y="1051560"/>
            <a:ext cx="2834640" cy="3886200"/>
          </a:xfrm>
          <a:prstGeom prst="rect">
            <a:avLst/>
          </a:prstGeom>
          <a:solidFill>
            <a:srgbClr val="151D35"/>
          </a:solidFill>
          <a:ln w="19050">
            <a:solidFill>
              <a:srgbClr val="FFA502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1051560"/>
            <a:ext cx="2834640" cy="548640"/>
          </a:xfrm>
          <a:prstGeom prst="rect">
            <a:avLst/>
          </a:prstGeom>
          <a:solidFill>
            <a:srgbClr val="FFA502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107899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6968" y="10789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Burp Suite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86968" y="13258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A502"/>
                </a:solidFill>
              </a:rPr>
              <a:t>Traffic Interceptor &amp; Analyzer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93192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502"/>
                </a:solidFill>
              </a:rPr>
              <a:t>Key Features: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93192" y="1984248"/>
            <a:ext cx="109728" cy="109728"/>
          </a:xfrm>
          <a:prstGeom prst="ellipse">
            <a:avLst/>
          </a:prstGeom>
          <a:solidFill>
            <a:srgbClr val="FFA502"/>
          </a:solidFill>
          <a:ln/>
        </p:spPr>
      </p:sp>
      <p:sp>
        <p:nvSpPr>
          <p:cNvPr id="13" name="Text 9"/>
          <p:cNvSpPr/>
          <p:nvPr/>
        </p:nvSpPr>
        <p:spPr>
          <a:xfrm>
            <a:off x="576072" y="195681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Intercept &amp; modify HTTP/HTTPS requests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93192" y="2295144"/>
            <a:ext cx="109728" cy="109728"/>
          </a:xfrm>
          <a:prstGeom prst="ellipse">
            <a:avLst/>
          </a:prstGeom>
          <a:solidFill>
            <a:srgbClr val="FFA502"/>
          </a:solidFill>
          <a:ln/>
        </p:spPr>
      </p:sp>
      <p:sp>
        <p:nvSpPr>
          <p:cNvPr id="15" name="Text 11"/>
          <p:cNvSpPr/>
          <p:nvPr/>
        </p:nvSpPr>
        <p:spPr>
          <a:xfrm>
            <a:off x="576072" y="226771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Repeater — replay &amp; tweak requests manually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93192" y="2606040"/>
            <a:ext cx="109728" cy="109728"/>
          </a:xfrm>
          <a:prstGeom prst="ellipse">
            <a:avLst/>
          </a:prstGeom>
          <a:solidFill>
            <a:srgbClr val="FFA502"/>
          </a:solidFill>
          <a:ln/>
        </p:spPr>
      </p:sp>
      <p:sp>
        <p:nvSpPr>
          <p:cNvPr id="17" name="Text 13"/>
          <p:cNvSpPr/>
          <p:nvPr/>
        </p:nvSpPr>
        <p:spPr>
          <a:xfrm>
            <a:off x="576072" y="257860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Intruder — automated payload injection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93192" y="2916936"/>
            <a:ext cx="109728" cy="109728"/>
          </a:xfrm>
          <a:prstGeom prst="ellipse">
            <a:avLst/>
          </a:prstGeom>
          <a:solidFill>
            <a:srgbClr val="FFA502"/>
          </a:solidFill>
          <a:ln/>
        </p:spPr>
      </p:sp>
      <p:sp>
        <p:nvSpPr>
          <p:cNvPr id="19" name="Text 15"/>
          <p:cNvSpPr/>
          <p:nvPr/>
        </p:nvSpPr>
        <p:spPr>
          <a:xfrm>
            <a:off x="576072" y="2889504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Decoder — encode/decode data (base64, URL)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93192" y="3227832"/>
            <a:ext cx="109728" cy="109728"/>
          </a:xfrm>
          <a:prstGeom prst="ellipse">
            <a:avLst/>
          </a:prstGeom>
          <a:solidFill>
            <a:srgbClr val="FFA502"/>
          </a:solidFill>
          <a:ln/>
        </p:spPr>
      </p:sp>
      <p:sp>
        <p:nvSpPr>
          <p:cNvPr id="21" name="Text 17"/>
          <p:cNvSpPr/>
          <p:nvPr/>
        </p:nvSpPr>
        <p:spPr>
          <a:xfrm>
            <a:off x="576072" y="320040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Scanner — find vulnerabilities automatically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20040" y="3611880"/>
            <a:ext cx="2651760" cy="1234440"/>
          </a:xfrm>
          <a:prstGeom prst="rect">
            <a:avLst/>
          </a:prstGeom>
          <a:solidFill>
            <a:srgbClr val="080D18"/>
          </a:solidFill>
          <a:ln w="6350">
            <a:solidFill>
              <a:srgbClr val="FFA50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29768" y="36393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502"/>
                </a:solidFill>
              </a:rPr>
              <a:t>📍 My Finding: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29768" y="3877056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</a:rPr>
              <a:t>Used to intercept login requests and modify cookies. Found session token predictability.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3200400" y="1051560"/>
            <a:ext cx="2834640" cy="3886200"/>
          </a:xfrm>
          <a:prstGeom prst="rect">
            <a:avLst/>
          </a:prstGeom>
          <a:solidFill>
            <a:srgbClr val="151D35"/>
          </a:solidFill>
          <a:ln w="19050">
            <a:solidFill>
              <a:srgbClr val="FF4757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200400" y="1051560"/>
            <a:ext cx="2834640" cy="548640"/>
          </a:xfrm>
          <a:prstGeom prst="rect">
            <a:avLst/>
          </a:prstGeom>
          <a:solidFill>
            <a:srgbClr val="FF4757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1078992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858768" y="10789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OWASP ZAP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3858768" y="13258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4757"/>
                </a:solidFill>
              </a:rPr>
              <a:t>Automated Security Scanner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3364992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757"/>
                </a:solidFill>
              </a:rPr>
              <a:t>Key Features: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3364992" y="1984248"/>
            <a:ext cx="109728" cy="109728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32" name="Text 27"/>
          <p:cNvSpPr/>
          <p:nvPr/>
        </p:nvSpPr>
        <p:spPr>
          <a:xfrm>
            <a:off x="3547872" y="195681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Automated active &amp; passive scanning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3364992" y="2295144"/>
            <a:ext cx="109728" cy="109728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34" name="Text 29"/>
          <p:cNvSpPr/>
          <p:nvPr/>
        </p:nvSpPr>
        <p:spPr>
          <a:xfrm>
            <a:off x="3547872" y="226771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Spider/crawler to map entire application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3364992" y="2606040"/>
            <a:ext cx="109728" cy="109728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36" name="Text 31"/>
          <p:cNvSpPr/>
          <p:nvPr/>
        </p:nvSpPr>
        <p:spPr>
          <a:xfrm>
            <a:off x="3547872" y="257860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Fuzzer for testing all input points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3364992" y="2916936"/>
            <a:ext cx="109728" cy="109728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38" name="Text 33"/>
          <p:cNvSpPr/>
          <p:nvPr/>
        </p:nvSpPr>
        <p:spPr>
          <a:xfrm>
            <a:off x="3547872" y="2889504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Ajax Spider for SPA apps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3364992" y="3227832"/>
            <a:ext cx="109728" cy="109728"/>
          </a:xfrm>
          <a:prstGeom prst="ellipse">
            <a:avLst/>
          </a:prstGeom>
          <a:solidFill>
            <a:srgbClr val="FF4757"/>
          </a:solidFill>
          <a:ln/>
        </p:spPr>
      </p:sp>
      <p:sp>
        <p:nvSpPr>
          <p:cNvPr id="40" name="Text 35"/>
          <p:cNvSpPr/>
          <p:nvPr/>
        </p:nvSpPr>
        <p:spPr>
          <a:xfrm>
            <a:off x="3547872" y="320040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Free &amp; open source — great for beginners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3291840" y="3611880"/>
            <a:ext cx="2651760" cy="1234440"/>
          </a:xfrm>
          <a:prstGeom prst="rect">
            <a:avLst/>
          </a:prstGeom>
          <a:solidFill>
            <a:srgbClr val="080D18"/>
          </a:solidFill>
          <a:ln w="6350">
            <a:solidFill>
              <a:srgbClr val="FF4757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3401568" y="36393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757"/>
                </a:solidFill>
              </a:rPr>
              <a:t>📍 My Finding: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3401568" y="3877056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</a:rPr>
              <a:t>Ran automated scan on DVWA — found 12 vulnerabilities including XSS, SQLi, and header issues.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6172200" y="1051560"/>
            <a:ext cx="2834640" cy="3886200"/>
          </a:xfrm>
          <a:prstGeom prst="rect">
            <a:avLst/>
          </a:prstGeom>
          <a:solidFill>
            <a:srgbClr val="151D35"/>
          </a:solidFill>
          <a:ln w="19050">
            <a:solidFill>
              <a:srgbClr val="00FF9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6172200" y="1051560"/>
            <a:ext cx="2834640" cy="548640"/>
          </a:xfrm>
          <a:prstGeom prst="rect">
            <a:avLst/>
          </a:prstGeom>
          <a:solidFill>
            <a:srgbClr val="00FF9D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1078992"/>
            <a:ext cx="457200" cy="45720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6830568" y="10789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Nikto</a:t>
            </a:r>
            <a:endParaRPr lang="en-US" sz="1400" dirty="0"/>
          </a:p>
        </p:txBody>
      </p:sp>
      <p:sp>
        <p:nvSpPr>
          <p:cNvPr id="48" name="Text 42"/>
          <p:cNvSpPr/>
          <p:nvPr/>
        </p:nvSpPr>
        <p:spPr>
          <a:xfrm>
            <a:off x="6830568" y="132588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FF9D"/>
                </a:solidFill>
              </a:rPr>
              <a:t>Web Server Scanner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6336792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FF9D"/>
                </a:solidFill>
              </a:rPr>
              <a:t>Key Features: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6336792" y="1984248"/>
            <a:ext cx="109728" cy="109728"/>
          </a:xfrm>
          <a:prstGeom prst="ellipse">
            <a:avLst/>
          </a:prstGeom>
          <a:solidFill>
            <a:srgbClr val="00FF9D"/>
          </a:solidFill>
          <a:ln/>
        </p:spPr>
      </p:sp>
      <p:sp>
        <p:nvSpPr>
          <p:cNvPr id="51" name="Text 45"/>
          <p:cNvSpPr/>
          <p:nvPr/>
        </p:nvSpPr>
        <p:spPr>
          <a:xfrm>
            <a:off x="6519672" y="195681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Scans for 6700+ known vulnerabilities</a:t>
            </a:r>
            <a:endParaRPr lang="en-US" sz="950" dirty="0"/>
          </a:p>
        </p:txBody>
      </p:sp>
      <p:sp>
        <p:nvSpPr>
          <p:cNvPr id="52" name="Shape 46"/>
          <p:cNvSpPr/>
          <p:nvPr/>
        </p:nvSpPr>
        <p:spPr>
          <a:xfrm>
            <a:off x="6336792" y="2295144"/>
            <a:ext cx="109728" cy="109728"/>
          </a:xfrm>
          <a:prstGeom prst="ellipse">
            <a:avLst/>
          </a:prstGeom>
          <a:solidFill>
            <a:srgbClr val="00FF9D"/>
          </a:solidFill>
          <a:ln/>
        </p:spPr>
      </p:sp>
      <p:sp>
        <p:nvSpPr>
          <p:cNvPr id="53" name="Text 47"/>
          <p:cNvSpPr/>
          <p:nvPr/>
        </p:nvSpPr>
        <p:spPr>
          <a:xfrm>
            <a:off x="6519672" y="226771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Checks for outdated server software</a:t>
            </a:r>
            <a:endParaRPr lang="en-US" sz="950" dirty="0"/>
          </a:p>
        </p:txBody>
      </p:sp>
      <p:sp>
        <p:nvSpPr>
          <p:cNvPr id="54" name="Shape 48"/>
          <p:cNvSpPr/>
          <p:nvPr/>
        </p:nvSpPr>
        <p:spPr>
          <a:xfrm>
            <a:off x="6336792" y="2606040"/>
            <a:ext cx="109728" cy="109728"/>
          </a:xfrm>
          <a:prstGeom prst="ellipse">
            <a:avLst/>
          </a:prstGeom>
          <a:solidFill>
            <a:srgbClr val="00FF9D"/>
          </a:solidFill>
          <a:ln/>
        </p:spPr>
      </p:sp>
      <p:sp>
        <p:nvSpPr>
          <p:cNvPr id="55" name="Text 49"/>
          <p:cNvSpPr/>
          <p:nvPr/>
        </p:nvSpPr>
        <p:spPr>
          <a:xfrm>
            <a:off x="6519672" y="2578608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Identifies dangerous files &amp; configs</a:t>
            </a:r>
            <a:endParaRPr lang="en-US" sz="950" dirty="0"/>
          </a:p>
        </p:txBody>
      </p:sp>
      <p:sp>
        <p:nvSpPr>
          <p:cNvPr id="56" name="Shape 50"/>
          <p:cNvSpPr/>
          <p:nvPr/>
        </p:nvSpPr>
        <p:spPr>
          <a:xfrm>
            <a:off x="6336792" y="2916936"/>
            <a:ext cx="109728" cy="109728"/>
          </a:xfrm>
          <a:prstGeom prst="ellipse">
            <a:avLst/>
          </a:prstGeom>
          <a:solidFill>
            <a:srgbClr val="00FF9D"/>
          </a:solidFill>
          <a:ln/>
        </p:spPr>
      </p:sp>
      <p:sp>
        <p:nvSpPr>
          <p:cNvPr id="57" name="Text 51"/>
          <p:cNvSpPr/>
          <p:nvPr/>
        </p:nvSpPr>
        <p:spPr>
          <a:xfrm>
            <a:off x="6519672" y="2889504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Command line: nikto -h http://target</a:t>
            </a:r>
            <a:endParaRPr lang="en-US" sz="950" dirty="0"/>
          </a:p>
        </p:txBody>
      </p:sp>
      <p:sp>
        <p:nvSpPr>
          <p:cNvPr id="58" name="Shape 52"/>
          <p:cNvSpPr/>
          <p:nvPr/>
        </p:nvSpPr>
        <p:spPr>
          <a:xfrm>
            <a:off x="6336792" y="3227832"/>
            <a:ext cx="109728" cy="109728"/>
          </a:xfrm>
          <a:prstGeom prst="ellipse">
            <a:avLst/>
          </a:prstGeom>
          <a:solidFill>
            <a:srgbClr val="00FF9D"/>
          </a:solidFill>
          <a:ln/>
        </p:spPr>
      </p:sp>
      <p:sp>
        <p:nvSpPr>
          <p:cNvPr id="59" name="Text 53"/>
          <p:cNvSpPr/>
          <p:nvPr/>
        </p:nvSpPr>
        <p:spPr>
          <a:xfrm>
            <a:off x="6519672" y="320040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5D6"/>
                </a:solidFill>
              </a:rPr>
              <a:t>Fast initial reconnaissance tool</a:t>
            </a:r>
            <a:endParaRPr lang="en-US" sz="950" dirty="0"/>
          </a:p>
        </p:txBody>
      </p:sp>
      <p:sp>
        <p:nvSpPr>
          <p:cNvPr id="60" name="Shape 54"/>
          <p:cNvSpPr/>
          <p:nvPr/>
        </p:nvSpPr>
        <p:spPr>
          <a:xfrm>
            <a:off x="6263640" y="3611880"/>
            <a:ext cx="2651760" cy="1234440"/>
          </a:xfrm>
          <a:prstGeom prst="rect">
            <a:avLst/>
          </a:prstGeom>
          <a:solidFill>
            <a:srgbClr val="080D18"/>
          </a:solidFill>
          <a:ln w="6350">
            <a:solidFill>
              <a:srgbClr val="00FF9D"/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6373368" y="36393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FF9D"/>
                </a:solidFill>
              </a:rPr>
              <a:t>📍 My Finding:</a:t>
            </a:r>
            <a:endParaRPr lang="en-US" sz="900" dirty="0"/>
          </a:p>
        </p:txBody>
      </p:sp>
      <p:sp>
        <p:nvSpPr>
          <p:cNvPr id="62" name="Text 56"/>
          <p:cNvSpPr/>
          <p:nvPr/>
        </p:nvSpPr>
        <p:spPr>
          <a:xfrm>
            <a:off x="6373368" y="3877056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</a:rPr>
              <a:t>Discovered Apache version, disabled security headers, and test files left on server.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FF9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FF9D"/>
                </a:solidFill>
              </a:rPr>
              <a:t>STEP 05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3716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Vulnerability Report — Findings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28600" y="1078992"/>
            <a:ext cx="2011680" cy="365760"/>
          </a:xfrm>
          <a:prstGeom prst="rect">
            <a:avLst/>
          </a:prstGeom>
          <a:solidFill>
            <a:srgbClr val="16304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0789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</a:rPr>
              <a:t>Vulnerability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240280" y="1078992"/>
            <a:ext cx="2103120" cy="365760"/>
          </a:xfrm>
          <a:prstGeom prst="rect">
            <a:avLst/>
          </a:prstGeom>
          <a:solidFill>
            <a:srgbClr val="16304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0" y="107899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</a:rPr>
              <a:t>Location Found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43400" y="1078992"/>
            <a:ext cx="868680" cy="365760"/>
          </a:xfrm>
          <a:prstGeom prst="rect">
            <a:avLst/>
          </a:prstGeom>
          <a:solidFill>
            <a:srgbClr val="16304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0" y="10789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</a:rPr>
              <a:t>Severity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212080" y="1078992"/>
            <a:ext cx="1188720" cy="365760"/>
          </a:xfrm>
          <a:prstGeom prst="rect">
            <a:avLst/>
          </a:prstGeom>
          <a:solidFill>
            <a:srgbClr val="16304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57800" y="10789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</a:rPr>
              <a:t>Tool Used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00800" y="1078992"/>
            <a:ext cx="2697480" cy="365760"/>
          </a:xfrm>
          <a:prstGeom prst="rect">
            <a:avLst/>
          </a:prstGeom>
          <a:solidFill>
            <a:srgbClr val="163040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10789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</a:rPr>
              <a:t>Recommended Fix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28600" y="1481328"/>
            <a:ext cx="2011680" cy="457200"/>
          </a:xfrm>
          <a:prstGeom prst="rect">
            <a:avLst/>
          </a:prstGeom>
          <a:solidFill>
            <a:srgbClr val="151D3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83464" y="148132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SQL Injection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240280" y="1481328"/>
            <a:ext cx="2103120" cy="457200"/>
          </a:xfrm>
          <a:prstGeom prst="rect">
            <a:avLst/>
          </a:prstGeom>
          <a:solidFill>
            <a:srgbClr val="151D3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295144" y="1481328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</a:rPr>
              <a:t>/dvwa/login.php (username field)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343400" y="1481328"/>
            <a:ext cx="868680" cy="457200"/>
          </a:xfrm>
          <a:prstGeom prst="rect">
            <a:avLst/>
          </a:prstGeom>
          <a:solidFill>
            <a:srgbClr val="151D3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16552" y="1572768"/>
            <a:ext cx="722376" cy="274320"/>
          </a:xfrm>
          <a:prstGeom prst="rect">
            <a:avLst/>
          </a:prstGeom>
          <a:solidFill>
            <a:srgbClr val="FF4757">
              <a:alpha val="60000"/>
            </a:srgbClr>
          </a:solidFill>
          <a:ln w="6350">
            <a:solidFill>
              <a:srgbClr val="FF4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16552" y="1572768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212080" y="1481328"/>
            <a:ext cx="1188720" cy="457200"/>
          </a:xfrm>
          <a:prstGeom prst="rect">
            <a:avLst/>
          </a:prstGeom>
          <a:solidFill>
            <a:srgbClr val="151D3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266944" y="1481328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</a:rPr>
              <a:t>Manual + Burp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400800" y="1481328"/>
            <a:ext cx="2697480" cy="457200"/>
          </a:xfrm>
          <a:prstGeom prst="rect">
            <a:avLst/>
          </a:prstGeom>
          <a:solidFill>
            <a:srgbClr val="151D3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55664" y="148132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</a:rPr>
              <a:t>Use prepared statements &amp; parameterized queries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28600" y="1956816"/>
            <a:ext cx="2011680" cy="457200"/>
          </a:xfrm>
          <a:prstGeom prst="rect">
            <a:avLst/>
          </a:prstGeom>
          <a:solidFill>
            <a:srgbClr val="0D142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83464" y="1956816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Stored XSS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240280" y="1956816"/>
            <a:ext cx="2103120" cy="457200"/>
          </a:xfrm>
          <a:prstGeom prst="rect">
            <a:avLst/>
          </a:prstGeom>
          <a:solidFill>
            <a:srgbClr val="0D142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95144" y="1956816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</a:rPr>
              <a:t>/dvwa/xss_s.php (name input)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343400" y="1956816"/>
            <a:ext cx="868680" cy="457200"/>
          </a:xfrm>
          <a:prstGeom prst="rect">
            <a:avLst/>
          </a:prstGeom>
          <a:solidFill>
            <a:srgbClr val="0D142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416552" y="2048256"/>
            <a:ext cx="722376" cy="274320"/>
          </a:xfrm>
          <a:prstGeom prst="rect">
            <a:avLst/>
          </a:prstGeom>
          <a:solidFill>
            <a:srgbClr val="FF4757">
              <a:alpha val="60000"/>
            </a:srgbClr>
          </a:solidFill>
          <a:ln w="6350">
            <a:solidFill>
              <a:srgbClr val="FF475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416552" y="2048256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5212080" y="1956816"/>
            <a:ext cx="1188720" cy="457200"/>
          </a:xfrm>
          <a:prstGeom prst="rect">
            <a:avLst/>
          </a:prstGeom>
          <a:solidFill>
            <a:srgbClr val="0D142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266944" y="1956816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</a:rPr>
              <a:t>Manual + ZAP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400800" y="1956816"/>
            <a:ext cx="2697480" cy="457200"/>
          </a:xfrm>
          <a:prstGeom prst="rect">
            <a:avLst/>
          </a:prstGeom>
          <a:solidFill>
            <a:srgbClr val="0D142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55664" y="1956816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</a:rPr>
              <a:t>Output encoding with htmlspecialchars()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28600" y="2432304"/>
            <a:ext cx="2011680" cy="457200"/>
          </a:xfrm>
          <a:prstGeom prst="rect">
            <a:avLst/>
          </a:prstGeom>
          <a:solidFill>
            <a:srgbClr val="151D3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83464" y="243230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Reflected XSS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240280" y="2432304"/>
            <a:ext cx="2103120" cy="457200"/>
          </a:xfrm>
          <a:prstGeom prst="rect">
            <a:avLst/>
          </a:prstGeom>
          <a:solidFill>
            <a:srgbClr val="151D3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295144" y="2432304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</a:rPr>
              <a:t>/dvwa/xss_r.php?name= param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343400" y="2432304"/>
            <a:ext cx="868680" cy="457200"/>
          </a:xfrm>
          <a:prstGeom prst="rect">
            <a:avLst/>
          </a:prstGeom>
          <a:solidFill>
            <a:srgbClr val="151D3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416552" y="2523744"/>
            <a:ext cx="722376" cy="274320"/>
          </a:xfrm>
          <a:prstGeom prst="rect">
            <a:avLst/>
          </a:prstGeom>
          <a:solidFill>
            <a:srgbClr val="FFA502">
              <a:alpha val="60000"/>
            </a:srgbClr>
          </a:solidFill>
          <a:ln w="6350">
            <a:solidFill>
              <a:srgbClr val="FFA50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416552" y="2523744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212080" y="2432304"/>
            <a:ext cx="1188720" cy="457200"/>
          </a:xfrm>
          <a:prstGeom prst="rect">
            <a:avLst/>
          </a:prstGeom>
          <a:solidFill>
            <a:srgbClr val="151D3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266944" y="2432304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</a:rPr>
              <a:t>Manual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400800" y="2432304"/>
            <a:ext cx="2697480" cy="457200"/>
          </a:xfrm>
          <a:prstGeom prst="rect">
            <a:avLst/>
          </a:prstGeom>
          <a:solidFill>
            <a:srgbClr val="151D3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55664" y="2432304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</a:rPr>
              <a:t>Validate &amp; sanitize all reflected user input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28600" y="2907792"/>
            <a:ext cx="2011680" cy="457200"/>
          </a:xfrm>
          <a:prstGeom prst="rect">
            <a:avLst/>
          </a:prstGeom>
          <a:solidFill>
            <a:srgbClr val="0D142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83464" y="2907792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Broken Auth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240280" y="2907792"/>
            <a:ext cx="2103120" cy="457200"/>
          </a:xfrm>
          <a:prstGeom prst="rect">
            <a:avLst/>
          </a:prstGeom>
          <a:solidFill>
            <a:srgbClr val="0D142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295144" y="290779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</a:rPr>
              <a:t>/login page (no lockout)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4343400" y="2907792"/>
            <a:ext cx="868680" cy="457200"/>
          </a:xfrm>
          <a:prstGeom prst="rect">
            <a:avLst/>
          </a:prstGeom>
          <a:solidFill>
            <a:srgbClr val="0D142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416552" y="2999232"/>
            <a:ext cx="722376" cy="274320"/>
          </a:xfrm>
          <a:prstGeom prst="rect">
            <a:avLst/>
          </a:prstGeom>
          <a:solidFill>
            <a:srgbClr val="FF4757">
              <a:alpha val="60000"/>
            </a:srgbClr>
          </a:solidFill>
          <a:ln w="6350">
            <a:solidFill>
              <a:srgbClr val="FF475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416552" y="2999232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5212080" y="2907792"/>
            <a:ext cx="1188720" cy="457200"/>
          </a:xfrm>
          <a:prstGeom prst="rect">
            <a:avLst/>
          </a:prstGeom>
          <a:solidFill>
            <a:srgbClr val="0D142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266944" y="2907792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</a:rPr>
              <a:t>Burp Intruder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6400800" y="2907792"/>
            <a:ext cx="2697480" cy="457200"/>
          </a:xfrm>
          <a:prstGeom prst="rect">
            <a:avLst/>
          </a:prstGeom>
          <a:solidFill>
            <a:srgbClr val="0D142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455664" y="2907792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</a:rPr>
              <a:t>Implement account lockout, MFA, secure sessions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228600" y="3383280"/>
            <a:ext cx="2011680" cy="457200"/>
          </a:xfrm>
          <a:prstGeom prst="rect">
            <a:avLst/>
          </a:prstGeom>
          <a:solidFill>
            <a:srgbClr val="151D3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283464" y="338328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Security Misconfig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2240280" y="3383280"/>
            <a:ext cx="2103120" cy="457200"/>
          </a:xfrm>
          <a:prstGeom prst="rect">
            <a:avLst/>
          </a:prstGeom>
          <a:solidFill>
            <a:srgbClr val="151D3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2295144" y="338328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</a:rPr>
              <a:t>/phpinfo.php exposed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4343400" y="3383280"/>
            <a:ext cx="868680" cy="457200"/>
          </a:xfrm>
          <a:prstGeom prst="rect">
            <a:avLst/>
          </a:prstGeom>
          <a:solidFill>
            <a:srgbClr val="151D3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416552" y="3474720"/>
            <a:ext cx="722376" cy="274320"/>
          </a:xfrm>
          <a:prstGeom prst="rect">
            <a:avLst/>
          </a:prstGeom>
          <a:solidFill>
            <a:srgbClr val="FFA502">
              <a:alpha val="60000"/>
            </a:srgbClr>
          </a:solidFill>
          <a:ln w="6350">
            <a:solidFill>
              <a:srgbClr val="FFA502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4416552" y="3474720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5212080" y="3383280"/>
            <a:ext cx="1188720" cy="457200"/>
          </a:xfrm>
          <a:prstGeom prst="rect">
            <a:avLst/>
          </a:prstGeom>
          <a:solidFill>
            <a:srgbClr val="151D3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266944" y="338328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</a:rPr>
              <a:t>Nikto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6400800" y="3383280"/>
            <a:ext cx="2697480" cy="457200"/>
          </a:xfrm>
          <a:prstGeom prst="rect">
            <a:avLst/>
          </a:prstGeom>
          <a:solidFill>
            <a:srgbClr val="151D3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455664" y="3383280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</a:rPr>
              <a:t>Remove sensitive files from production server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228600" y="3858768"/>
            <a:ext cx="2011680" cy="457200"/>
          </a:xfrm>
          <a:prstGeom prst="rect">
            <a:avLst/>
          </a:prstGeom>
          <a:solidFill>
            <a:srgbClr val="0D142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283464" y="385876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Insecure Deser.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2240280" y="3858768"/>
            <a:ext cx="2103120" cy="457200"/>
          </a:xfrm>
          <a:prstGeom prst="rect">
            <a:avLst/>
          </a:prstGeom>
          <a:solidFill>
            <a:srgbClr val="0D142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2295144" y="3858768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</a:rPr>
              <a:t>/cookie (base64 PHP object)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4343400" y="3858768"/>
            <a:ext cx="868680" cy="457200"/>
          </a:xfrm>
          <a:prstGeom prst="rect">
            <a:avLst/>
          </a:prstGeom>
          <a:solidFill>
            <a:srgbClr val="0D142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416552" y="3950208"/>
            <a:ext cx="722376" cy="274320"/>
          </a:xfrm>
          <a:prstGeom prst="rect">
            <a:avLst/>
          </a:prstGeom>
          <a:solidFill>
            <a:srgbClr val="FF4757">
              <a:alpha val="60000"/>
            </a:srgbClr>
          </a:solidFill>
          <a:ln w="6350">
            <a:solidFill>
              <a:srgbClr val="FF4757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4416552" y="3950208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78" name="Shape 75"/>
          <p:cNvSpPr/>
          <p:nvPr/>
        </p:nvSpPr>
        <p:spPr>
          <a:xfrm>
            <a:off x="5212080" y="3858768"/>
            <a:ext cx="1188720" cy="457200"/>
          </a:xfrm>
          <a:prstGeom prst="rect">
            <a:avLst/>
          </a:prstGeom>
          <a:solidFill>
            <a:srgbClr val="0D142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5266944" y="3858768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</a:rPr>
              <a:t>Burp Suite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6400800" y="3858768"/>
            <a:ext cx="2697480" cy="457200"/>
          </a:xfrm>
          <a:prstGeom prst="rect">
            <a:avLst/>
          </a:prstGeom>
          <a:solidFill>
            <a:srgbClr val="0D142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6455664" y="385876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</a:rPr>
              <a:t>Avoid PHP unserialize() on user-controlled data</a:t>
            </a:r>
            <a:endParaRPr lang="en-US" sz="900" dirty="0"/>
          </a:p>
        </p:txBody>
      </p:sp>
      <p:sp>
        <p:nvSpPr>
          <p:cNvPr id="82" name="Shape 79"/>
          <p:cNvSpPr/>
          <p:nvPr/>
        </p:nvSpPr>
        <p:spPr>
          <a:xfrm>
            <a:off x="228600" y="4334256"/>
            <a:ext cx="2011680" cy="457200"/>
          </a:xfrm>
          <a:prstGeom prst="rect">
            <a:avLst/>
          </a:prstGeom>
          <a:solidFill>
            <a:srgbClr val="151D3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283464" y="4334256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Missing CSP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2240280" y="4334256"/>
            <a:ext cx="2103120" cy="457200"/>
          </a:xfrm>
          <a:prstGeom prst="rect">
            <a:avLst/>
          </a:prstGeom>
          <a:solidFill>
            <a:srgbClr val="151D3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2295144" y="4334256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</a:rPr>
              <a:t>All pages (HTTP Headers)</a:t>
            </a:r>
            <a:endParaRPr lang="en-US" sz="900" dirty="0"/>
          </a:p>
        </p:txBody>
      </p:sp>
      <p:sp>
        <p:nvSpPr>
          <p:cNvPr id="86" name="Shape 83"/>
          <p:cNvSpPr/>
          <p:nvPr/>
        </p:nvSpPr>
        <p:spPr>
          <a:xfrm>
            <a:off x="4343400" y="4334256"/>
            <a:ext cx="868680" cy="457200"/>
          </a:xfrm>
          <a:prstGeom prst="rect">
            <a:avLst/>
          </a:prstGeom>
          <a:solidFill>
            <a:srgbClr val="151D3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4416552" y="4425696"/>
            <a:ext cx="722376" cy="274320"/>
          </a:xfrm>
          <a:prstGeom prst="rect">
            <a:avLst/>
          </a:prstGeom>
          <a:solidFill>
            <a:srgbClr val="5CB85C">
              <a:alpha val="60000"/>
            </a:srgbClr>
          </a:solidFill>
          <a:ln w="6350">
            <a:solidFill>
              <a:srgbClr val="5CB85C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4416552" y="4425696"/>
            <a:ext cx="722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5212080" y="4334256"/>
            <a:ext cx="1188720" cy="457200"/>
          </a:xfrm>
          <a:prstGeom prst="rect">
            <a:avLst/>
          </a:prstGeom>
          <a:solidFill>
            <a:srgbClr val="151D3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5266944" y="4334256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</a:rPr>
              <a:t>OWASP ZAP</a:t>
            </a:r>
            <a:endParaRPr lang="en-US" sz="900" dirty="0"/>
          </a:p>
        </p:txBody>
      </p:sp>
      <p:sp>
        <p:nvSpPr>
          <p:cNvPr id="91" name="Shape 88"/>
          <p:cNvSpPr/>
          <p:nvPr/>
        </p:nvSpPr>
        <p:spPr>
          <a:xfrm>
            <a:off x="6400800" y="4334256"/>
            <a:ext cx="2697480" cy="457200"/>
          </a:xfrm>
          <a:prstGeom prst="rect">
            <a:avLst/>
          </a:prstGeom>
          <a:solidFill>
            <a:srgbClr val="151D35"/>
          </a:solidFill>
          <a:ln w="3810">
            <a:solidFill>
              <a:srgbClr val="4A5568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6455664" y="4334256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5D6"/>
                </a:solidFill>
              </a:rPr>
              <a:t>Add Content-Security-Policy response header</a:t>
            </a:r>
            <a:endParaRPr lang="en-US" sz="900" dirty="0"/>
          </a:p>
        </p:txBody>
      </p:sp>
      <p:sp>
        <p:nvSpPr>
          <p:cNvPr id="93" name="Text 90"/>
          <p:cNvSpPr/>
          <p:nvPr/>
        </p:nvSpPr>
        <p:spPr>
          <a:xfrm>
            <a:off x="228600" y="48280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C5D6"/>
                </a:solidFill>
              </a:rPr>
              <a:t>Severity:</a:t>
            </a:r>
            <a:endParaRPr lang="en-US" sz="900" dirty="0"/>
          </a:p>
        </p:txBody>
      </p:sp>
      <p:sp>
        <p:nvSpPr>
          <p:cNvPr id="94" name="Shape 91"/>
          <p:cNvSpPr/>
          <p:nvPr/>
        </p:nvSpPr>
        <p:spPr>
          <a:xfrm>
            <a:off x="1097280" y="4846320"/>
            <a:ext cx="640080" cy="201168"/>
          </a:xfrm>
          <a:prstGeom prst="rect">
            <a:avLst/>
          </a:prstGeom>
          <a:solidFill>
            <a:srgbClr val="FF4757">
              <a:alpha val="60000"/>
            </a:srgbClr>
          </a:solidFill>
          <a:ln w="6350">
            <a:solidFill>
              <a:srgbClr val="FF4757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1097280" y="48463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96" name="Shape 93"/>
          <p:cNvSpPr/>
          <p:nvPr/>
        </p:nvSpPr>
        <p:spPr>
          <a:xfrm>
            <a:off x="2011680" y="4846320"/>
            <a:ext cx="640080" cy="201168"/>
          </a:xfrm>
          <a:prstGeom prst="rect">
            <a:avLst/>
          </a:prstGeom>
          <a:solidFill>
            <a:srgbClr val="FFA502">
              <a:alpha val="60000"/>
            </a:srgbClr>
          </a:solidFill>
          <a:ln w="6350">
            <a:solidFill>
              <a:srgbClr val="FFA502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2011680" y="48463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2926080" y="4846320"/>
            <a:ext cx="640080" cy="201168"/>
          </a:xfrm>
          <a:prstGeom prst="rect">
            <a:avLst/>
          </a:prstGeom>
          <a:solidFill>
            <a:srgbClr val="5CB85C">
              <a:alpha val="60000"/>
            </a:srgbClr>
          </a:solidFill>
          <a:ln w="6350">
            <a:solidFill>
              <a:srgbClr val="5CB85C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2926080" y="48463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25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28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4FF"/>
                </a:solidFill>
              </a:rPr>
              <a:t>SUMMARY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274320" y="1261872"/>
            <a:ext cx="8595360" cy="1078992"/>
          </a:xfrm>
          <a:prstGeom prst="rect">
            <a:avLst/>
          </a:prstGeom>
          <a:solidFill>
            <a:srgbClr val="151D35"/>
          </a:solidFill>
          <a:ln w="12700">
            <a:solidFill>
              <a:srgbClr val="00FF9D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261872"/>
            <a:ext cx="109728" cy="1078992"/>
          </a:xfrm>
          <a:prstGeom prst="rect">
            <a:avLst/>
          </a:prstGeom>
          <a:solidFill>
            <a:srgbClr val="00FF9D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53312"/>
            <a:ext cx="594360" cy="5943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34440" y="1298448"/>
            <a:ext cx="745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9D"/>
                </a:solidFill>
              </a:rPr>
              <a:t>Tested 7+ Vulnerabilities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234440" y="1609344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</a:rPr>
              <a:t>SQL Injection, XSS (Reflected &amp; Stored), Broken Authentication, Insecure Deserialization, and Security Misconfiguration were all successfully identified and documented.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274320" y="2450592"/>
            <a:ext cx="8595360" cy="1078992"/>
          </a:xfrm>
          <a:prstGeom prst="rect">
            <a:avLst/>
          </a:prstGeom>
          <a:solidFill>
            <a:srgbClr val="151D35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74320" y="2450592"/>
            <a:ext cx="109728" cy="1078992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542032"/>
            <a:ext cx="594360" cy="5943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234440" y="2487168"/>
            <a:ext cx="745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</a:rPr>
              <a:t>3 Professional Tools Mastered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1234440" y="2798064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</a:rPr>
              <a:t>Gained hands-on experience with Burp Suite for traffic interception, OWASP ZAP for automated scanning, and Nikto for server reconnaissance.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274320" y="3639312"/>
            <a:ext cx="8595360" cy="1078992"/>
          </a:xfrm>
          <a:prstGeom prst="rect">
            <a:avLst/>
          </a:prstGeom>
          <a:solidFill>
            <a:srgbClr val="151D35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274320" y="3639312"/>
            <a:ext cx="109728" cy="1078992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730752"/>
            <a:ext cx="594360" cy="5943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234440" y="3675888"/>
            <a:ext cx="745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</a:rPr>
              <a:t>Ethical Testing Principles Applied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1234440" y="3986784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5D6"/>
                </a:solidFill>
              </a:rPr>
              <a:t>All testing was conducted exclusively on intentionally vulnerable lab environments — DVWA &amp; Juice Shop. No real systems were harmed or accessed.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solidFill>
            <a:srgbClr val="101828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57200" y="47640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D4FF"/>
                </a:solidFill>
              </a:rPr>
              <a:t>"The goal of ethical hacking is not to break things — it's to find the cracks before the adversaries do."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1569</Words>
  <Application>Microsoft Office PowerPoint</Application>
  <PresentationFormat>On-screen Show (16:9)</PresentationFormat>
  <Paragraphs>288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Application Security Testing - Week 5 &amp; 6</dc:title>
  <dc:subject>PptxGenJS Presentation</dc:subject>
  <dc:creator>Student</dc:creator>
  <cp:lastModifiedBy>DIBYAJYOTI BARIKI</cp:lastModifiedBy>
  <cp:revision>2</cp:revision>
  <dcterms:created xsi:type="dcterms:W3CDTF">2026-06-03T08:01:14Z</dcterms:created>
  <dcterms:modified xsi:type="dcterms:W3CDTF">2026-06-03T08:14:08Z</dcterms:modified>
</cp:coreProperties>
</file>